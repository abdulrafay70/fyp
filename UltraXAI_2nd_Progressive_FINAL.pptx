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2ND PROGRESSIVE PRESENTATION  |  BSCS 2023 BATCH  |  GROUP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UltraXAI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Explainable Multi-Model CAD System for Breast Cancer Detection in Ultrasound Imaging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27432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Supervisor: Dr Dodo Khan      Co-Supervisor: Dr Mir Hasan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Kinz Ul Iman (Lead)   |   Urwa Urooj   |   Salal Ahmed   |   Tooba   |   Rafay Qureshi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Government College University Hyderabad - 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41148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Reading breast ultrasound scans by hand takes a lot of time and depends on doctor experience. Different doctors can give different answers for the same scan, which may lead to missed cancers.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3200400" cy="12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UltraXAI solves this by automatically detecting, segmenting, classifying, and explaining tumors in one pipeline - giving doctors both a diagnosis and visual proof.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3108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12080" y="155448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48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Find the tumor in the scan using YOLOv8 object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371600"/>
            <a:ext cx="3108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0" y="155448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48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Draw the exact tumor borders using Attention U-Net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566160"/>
            <a:ext cx="3108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0" y="374904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3434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Decide Benign, Malignant, or Normal using EfficientNetV2 + ResNet50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566160"/>
            <a:ext cx="3108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0" y="374904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3434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Show a heatmap of where the AI looked using Grad-CAM++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1st Progressive Feedback -&gt; Actions Taken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5486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Feedback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173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Action Taken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1247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  <a:r>
              <a:t>Objectives 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48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Built a clear 4-step pipeline: Detect -&gt; Segment -&gt; Classify -&gt; Explain with all models connected end-to-end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286000"/>
            <a:ext cx="13716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313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11247120" cy="914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  <a:r>
              <a:t>Model Design &amp;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004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154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Trained a dual-model ensemble (ResNet50 + EfficientNetV2) on Benign, Malignant, and Normal scans with 96%+ ensemble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3291840"/>
            <a:ext cx="13716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33192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69080"/>
            <a:ext cx="11247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  <a:r>
              <a:t>Background Study &amp;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062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160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Added recent Explainable AI and CAD research papers to the literature review. Proposal documentation updated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297680"/>
            <a:ext cx="1371600" cy="4114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3251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12080"/>
            <a:ext cx="1124712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97706"/>
                </a:solidFill>
                <a:latin typeface="Calibri"/>
              </a:defRPr>
            </a:pPr>
            <a:r>
              <a:t>Evaluator's comment:  "They must work on model design and validation..."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How the Pipeline Actually Works (Deep Dive)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6459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Calibri"/>
              </a:defRPr>
            </a:pPr>
            <a:r>
              <a:t>INPUT</a:t>
            </a:r>
          </a:p>
          <a:p>
            <a:pPr>
              <a:spcAft>
                <a:spcPts val="200"/>
              </a:spcAft>
              <a:defRPr sz="1000" b="0">
                <a:solidFill>
                  <a:srgbClr val="0F172A"/>
                </a:solidFill>
                <a:latin typeface="Calibri"/>
              </a:defRPr>
            </a:pPr>
            <a:r>
              <a:t>Doctor uploads</a:t>
            </a:r>
          </a:p>
          <a:p>
            <a:pPr>
              <a:spcAft>
                <a:spcPts val="200"/>
              </a:spcAft>
              <a:defRPr sz="1000" b="0">
                <a:solidFill>
                  <a:srgbClr val="0F172A"/>
                </a:solidFill>
                <a:latin typeface="Calibri"/>
              </a:defRPr>
            </a:pPr>
            <a:r>
              <a:t>ultrasound scan</a:t>
            </a:r>
          </a:p>
        </p:txBody>
      </p:sp>
      <p:sp>
        <p:nvSpPr>
          <p:cNvPr id="6" name="Notched Right Arrow 5"/>
          <p:cNvSpPr/>
          <p:nvPr/>
        </p:nvSpPr>
        <p:spPr>
          <a:xfrm>
            <a:off x="1965960" y="1234440"/>
            <a:ext cx="320040" cy="320040"/>
          </a:xfrm>
          <a:prstGeom prst="notched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100584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515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PREPROCESSING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CLAHE contrast fix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Resize to 3 streams:</a:t>
            </a:r>
          </a:p>
          <a:p>
            <a:pPr>
              <a:spcAft>
                <a:spcPts val="200"/>
              </a:spcAft>
              <a:defRPr sz="800" b="0">
                <a:solidFill>
                  <a:srgbClr val="2563EB"/>
                </a:solidFill>
                <a:latin typeface="Calibri"/>
              </a:defRPr>
            </a:pPr>
            <a:r>
              <a:t>640x640 | 256x256 | 224x224</a:t>
            </a:r>
          </a:p>
        </p:txBody>
      </p:sp>
      <p:sp>
        <p:nvSpPr>
          <p:cNvPr id="9" name="Notched Right Arrow 8"/>
          <p:cNvSpPr/>
          <p:nvPr/>
        </p:nvSpPr>
        <p:spPr>
          <a:xfrm>
            <a:off x="4251960" y="1234440"/>
            <a:ext cx="320040" cy="320040"/>
          </a:xfrm>
          <a:prstGeom prst="notched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005840"/>
            <a:ext cx="228600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0515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2563EB"/>
                </a:solidFill>
                <a:latin typeface="Calibri"/>
              </a:defRPr>
            </a:pPr>
            <a:r>
              <a:t>PHASE 1: DETECT</a:t>
            </a:r>
          </a:p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Calibri"/>
              </a:defRPr>
            </a:pPr>
            <a:r>
              <a:t>YOLOv8-m Seg (87 epochs)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Finds tumor -&gt; crops ROI</a:t>
            </a:r>
          </a:p>
          <a:p>
            <a:pPr>
              <a:spcAft>
                <a:spcPts val="200"/>
              </a:spcAft>
              <a:defRPr sz="800" b="1">
                <a:solidFill>
                  <a:srgbClr val="2563EB"/>
                </a:solidFill>
                <a:latin typeface="Calibri"/>
              </a:defRPr>
            </a:pPr>
            <a:r>
              <a:t>mAP@50: 0.884 | ~87ms</a:t>
            </a:r>
          </a:p>
        </p:txBody>
      </p:sp>
      <p:sp>
        <p:nvSpPr>
          <p:cNvPr id="12" name="Notched Right Arrow 11"/>
          <p:cNvSpPr/>
          <p:nvPr/>
        </p:nvSpPr>
        <p:spPr>
          <a:xfrm>
            <a:off x="6995160" y="1234440"/>
            <a:ext cx="320040" cy="320040"/>
          </a:xfrm>
          <a:prstGeom prst="notched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7406640" y="914400"/>
            <a:ext cx="1280160" cy="1005840"/>
          </a:xfrm>
          <a:prstGeom prst="diamond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143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  <a:latin typeface="Calibri"/>
              </a:defRPr>
            </a:pPr>
            <a:r>
              <a:t>Tumor</a:t>
            </a:r>
            <a:br/>
            <a:r>
              <a:t>Found?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966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863840" y="2103120"/>
            <a:ext cx="274320" cy="274320"/>
          </a:xfrm>
          <a:prstGeom prst="down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188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770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8" name="Notched Right Arrow 17"/>
          <p:cNvSpPr/>
          <p:nvPr/>
        </p:nvSpPr>
        <p:spPr>
          <a:xfrm>
            <a:off x="8732520" y="1371600"/>
            <a:ext cx="320040" cy="228600"/>
          </a:xfrm>
          <a:prstGeom prst="notched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1143000"/>
            <a:ext cx="2377440" cy="5943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17043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97706"/>
                </a:solidFill>
                <a:latin typeface="Calibri"/>
              </a:defRPr>
            </a:pPr>
            <a:r>
              <a:t>FALLBACK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Use full image as ROI</a:t>
            </a:r>
          </a:p>
          <a:p>
            <a:pPr>
              <a:spcAft>
                <a:spcPts val="200"/>
              </a:spcAft>
              <a:defRPr sz="800" b="0">
                <a:solidFill>
                  <a:srgbClr val="475569"/>
                </a:solidFill>
                <a:latin typeface="Calibri"/>
              </a:defRPr>
            </a:pPr>
            <a:r>
              <a:t>U-Net still runs to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423160"/>
            <a:ext cx="3200400" cy="11887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891B2"/>
                </a:solidFill>
                <a:latin typeface="Calibri"/>
              </a:defRPr>
            </a:pPr>
            <a:r>
              <a:t>PHASE 2: SEGMENT - Attention U-Net</a:t>
            </a:r>
          </a:p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Calibri"/>
              </a:defRPr>
            </a:pPr>
            <a:r>
              <a:t>88 epochs trained | Dice: 0.7386 (+7.34% vs baseline)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Encoder (64-&gt;1024 channels) + 4 Attention Gates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Attention gates filter out shadow noise &amp; artifacts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Output: pixel-level binary mask (tumor = white)</a:t>
            </a:r>
          </a:p>
          <a:p>
            <a:pPr>
              <a:spcAft>
                <a:spcPts val="200"/>
              </a:spcAft>
              <a:defRPr sz="800" b="1">
                <a:solidFill>
                  <a:srgbClr val="0891B2"/>
                </a:solidFill>
                <a:latin typeface="Calibri"/>
              </a:defRPr>
            </a:pPr>
            <a:r>
              <a:t>Latency: ~78ms</a:t>
            </a:r>
          </a:p>
        </p:txBody>
      </p:sp>
      <p:sp>
        <p:nvSpPr>
          <p:cNvPr id="23" name="Notched Right Arrow 22"/>
          <p:cNvSpPr/>
          <p:nvPr/>
        </p:nvSpPr>
        <p:spPr>
          <a:xfrm>
            <a:off x="3520440" y="2834640"/>
            <a:ext cx="320040" cy="320040"/>
          </a:xfrm>
          <a:prstGeom prst="notched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31920" y="2423160"/>
            <a:ext cx="2286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4688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MASK GATING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ROI x Mask = Clean Patch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Removes all background pixels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Only tumor tissue goes to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the classifier (no noise)</a:t>
            </a:r>
          </a:p>
          <a:p>
            <a:pPr>
              <a:spcAft>
                <a:spcPts val="200"/>
              </a:spcAft>
              <a:defRPr sz="800" b="1">
                <a:solidFill>
                  <a:srgbClr val="0F172A"/>
                </a:solidFill>
                <a:latin typeface="Calibri"/>
              </a:defRPr>
            </a:pPr>
            <a:r>
              <a:t>Latency: ~2ms</a:t>
            </a:r>
          </a:p>
        </p:txBody>
      </p:sp>
      <p:sp>
        <p:nvSpPr>
          <p:cNvPr id="26" name="Diamond 25"/>
          <p:cNvSpPr/>
          <p:nvPr/>
        </p:nvSpPr>
        <p:spPr>
          <a:xfrm>
            <a:off x="6400800" y="2468880"/>
            <a:ext cx="1188720" cy="1005840"/>
          </a:xfrm>
          <a:prstGeom prst="diamond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651760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  <a:latin typeface="Calibri"/>
              </a:defRPr>
            </a:pPr>
            <a:r>
              <a:t>Mask</a:t>
            </a:r>
            <a:br/>
            <a:r>
              <a:t>&gt;50px?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7432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966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9" name="Notched Right Arrow 28"/>
          <p:cNvSpPr/>
          <p:nvPr/>
        </p:nvSpPr>
        <p:spPr>
          <a:xfrm>
            <a:off x="7635240" y="2880360"/>
            <a:ext cx="320040" cy="228600"/>
          </a:xfrm>
          <a:prstGeom prst="notched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4747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770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657600"/>
            <a:ext cx="1828800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6850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Auto: BENIGN / Normal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423160"/>
            <a:ext cx="3840480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3: CLASSIFY - Ensemble Soft Voting</a:t>
            </a:r>
          </a:p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Calibri"/>
              </a:defRPr>
            </a:pPr>
            <a:r>
              <a:t>EfficientNetV2-s (60% weight) + ResNet50 (40% weight)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Both models run in parallel on 224x224 masked patch</a:t>
            </a:r>
          </a:p>
          <a:p>
            <a:pPr>
              <a:spcAft>
                <a:spcPts val="200"/>
              </a:spcAft>
              <a:defRPr sz="900" b="1">
                <a:solidFill>
                  <a:srgbClr val="059669"/>
                </a:solidFill>
                <a:latin typeface="Calibri"/>
              </a:defRPr>
            </a:pPr>
            <a:r>
              <a:t>P(Class) = 0.60 x P_EfficientNet + 0.40 x P_ResNet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Output: Benign or Malignant + confidence %</a:t>
            </a:r>
          </a:p>
          <a:p>
            <a:pPr>
              <a:spcAft>
                <a:spcPts val="200"/>
              </a:spcAft>
              <a:defRPr sz="800" b="1">
                <a:solidFill>
                  <a:srgbClr val="059669"/>
                </a:solidFill>
                <a:latin typeface="Calibri"/>
              </a:defRPr>
            </a:pPr>
            <a:r>
              <a:t>Latency: ~95ms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977639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023359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TRUST SCORING</a:t>
            </a:r>
          </a:p>
          <a:p>
            <a:pPr>
              <a:spcAft>
                <a:spcPts val="200"/>
              </a:spcAft>
              <a:defRPr sz="900" b="0">
                <a:solidFill>
                  <a:srgbClr val="059669"/>
                </a:solidFill>
                <a:latin typeface="Calibri"/>
              </a:defRPr>
            </a:pPr>
            <a:r>
              <a:t>HIGH: both models agree, confidence &gt;= 90%</a:t>
            </a:r>
          </a:p>
          <a:p>
            <a:pPr>
              <a:spcAft>
                <a:spcPts val="200"/>
              </a:spcAft>
              <a:defRPr sz="900" b="0">
                <a:solidFill>
                  <a:srgbClr val="D97706"/>
                </a:solidFill>
                <a:latin typeface="Calibri"/>
              </a:defRPr>
            </a:pPr>
            <a:r>
              <a:t>MEDIUM: confidence 70-89%</a:t>
            </a:r>
          </a:p>
          <a:p>
            <a:pPr>
              <a:spcAft>
                <a:spcPts val="200"/>
              </a:spcAft>
              <a:defRPr sz="900" b="0">
                <a:solidFill>
                  <a:srgbClr val="DC2626"/>
                </a:solidFill>
                <a:latin typeface="Calibri"/>
              </a:defRPr>
            </a:pPr>
            <a:r>
              <a:t>LOW: models disagree or confidence &lt; 70%</a:t>
            </a:r>
          </a:p>
          <a:p>
            <a:pPr>
              <a:spcAft>
                <a:spcPts val="200"/>
              </a:spcAft>
              <a:defRPr sz="900" b="1">
                <a:solidFill>
                  <a:srgbClr val="475569"/>
                </a:solidFill>
                <a:latin typeface="Calibri"/>
              </a:defRPr>
            </a:pPr>
            <a:r>
              <a:t>LOW = doctor should double-check</a:t>
            </a:r>
          </a:p>
        </p:txBody>
      </p:sp>
      <p:sp>
        <p:nvSpPr>
          <p:cNvPr id="37" name="Notched Right Arrow 36"/>
          <p:cNvSpPr/>
          <p:nvPr/>
        </p:nvSpPr>
        <p:spPr>
          <a:xfrm>
            <a:off x="3246120" y="4343399"/>
            <a:ext cx="320040" cy="320040"/>
          </a:xfrm>
          <a:prstGeom prst="notched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57600" y="3977639"/>
            <a:ext cx="3200400" cy="10972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39" y="4023359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  <a:latin typeface="Calibri"/>
              </a:defRPr>
            </a:pPr>
            <a:r>
              <a:t>PHASE 4: EXPLAIN - Grad-CAM++</a:t>
            </a:r>
          </a:p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Calibri"/>
              </a:defRPr>
            </a:pPr>
            <a:r>
              <a:t>2nd-order gradient heatmap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Shows which pixels drove the decision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JET colormap at 40% opacity on scan</a:t>
            </a:r>
          </a:p>
          <a:p>
            <a:pPr>
              <a:spcAft>
                <a:spcPts val="200"/>
              </a:spcAft>
              <a:defRPr sz="800" b="1">
                <a:solidFill>
                  <a:srgbClr val="7C3AED"/>
                </a:solidFill>
                <a:latin typeface="Calibri"/>
              </a:defRPr>
            </a:pPr>
            <a:r>
              <a:t>Latency: ~82ms</a:t>
            </a:r>
          </a:p>
        </p:txBody>
      </p:sp>
      <p:sp>
        <p:nvSpPr>
          <p:cNvPr id="40" name="Notched Right Arrow 39"/>
          <p:cNvSpPr/>
          <p:nvPr/>
        </p:nvSpPr>
        <p:spPr>
          <a:xfrm>
            <a:off x="6903720" y="4343399"/>
            <a:ext cx="320040" cy="320040"/>
          </a:xfrm>
          <a:prstGeom prst="notched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0" y="3977639"/>
            <a:ext cx="4389120" cy="1097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023359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  <a:latin typeface="Calibri"/>
              </a:defRPr>
            </a:pPr>
            <a:r>
              <a:t>FINAL OUTPUT - FastAPI JSON Response</a:t>
            </a:r>
          </a:p>
          <a:p>
            <a:pPr>
              <a:spcAft>
                <a:spcPts val="200"/>
              </a:spcAft>
              <a:defRPr sz="900" b="0">
                <a:solidFill>
                  <a:srgbClr val="0F172A"/>
                </a:solidFill>
                <a:latin typeface="Calibri"/>
              </a:defRPr>
            </a:pPr>
            <a:r>
              <a:t>5 visual panels sent to React dashboard: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1. Original Scan  2. YOLO BBox  3. U-Net Mask</a:t>
            </a:r>
          </a:p>
          <a:p>
            <a:pPr>
              <a:spcAft>
                <a:spcPts val="2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4. Grad-CAM++ Heatmap  5. Clinical Decision Panel</a:t>
            </a:r>
          </a:p>
          <a:p>
            <a:pPr>
              <a:spcAft>
                <a:spcPts val="200"/>
              </a:spcAft>
              <a:defRPr sz="800" b="1">
                <a:solidFill>
                  <a:srgbClr val="059669"/>
                </a:solidFill>
                <a:latin typeface="Calibri"/>
              </a:defRPr>
            </a:pPr>
            <a:r>
              <a:t>Real-time WebSocket streaming to browser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349240"/>
            <a:ext cx="11612880" cy="50292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Total Pipeline Latency: ~342ms on CPU  |  Automatic U-Net Fallback  |  Zero False Positive Guarantee on Normal Scans  |  Real-Time WebSocket Streaming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98932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007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640x640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291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YOLO Input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06039" y="598932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97479" y="6007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256x256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7479" y="6291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U-Net Input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37759" y="598932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199" y="6007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224x224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199" y="6291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Classifier Input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69479" y="598932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19" y="6007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&lt; 350ms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19" y="6291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End-to-End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01200" y="598932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0" y="6007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3 Classes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6291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Benign / Malignant / Normal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4 - MANDATORY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Functional Prototype /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Doctor uploads</a:t>
            </a:r>
            <a:br/>
            <a:r>
              <a:t>ultrasound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4592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182880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423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Detect &amp;</a:t>
            </a:r>
            <a:br/>
            <a:r>
              <a:t>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1089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YOLO finds tumor</a:t>
            </a:r>
            <a:br/>
            <a:r>
              <a:t>U-Net draws borders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4592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0" y="182880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423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1089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Ensemble decides</a:t>
            </a:r>
            <a:br/>
            <a:r>
              <a:t>Benign or Malignant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4592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0" y="18288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23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1089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Grad-CAM++ shows</a:t>
            </a:r>
            <a:br/>
            <a:r>
              <a:t>where AI looked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645920"/>
            <a:ext cx="2011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82880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423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31089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Trust score + clinical</a:t>
            </a:r>
            <a:br/>
            <a:r>
              <a:t>guidance displayed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Demo: Short recorded video showing the full working flow on a real ultrasound scan.</a:t>
            </a:r>
            <a:br/>
            <a:r>
              <a:t>Output: 5 visual panels - Original Scan, YOLO BBox, U-Net Mask, Grad-CAM++ Heatmap, Clinical Decision.</a:t>
            </a:r>
            <a:br/>
            <a:r>
              <a:t>All 4 phases run together in under 350ms on a CPU.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5  |  EVALUATION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Complete Results: Training Scores + Clinical Test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20040"/>
            <a:ext cx="2651760" cy="384048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2,522 Images Trained &amp; Evaluated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B46"/>
                </a:solidFill>
                <a:latin typeface="Calibri"/>
              </a:defRPr>
            </a:pPr>
            <a:r>
              <a:t>1. Model Training &amp; Validation Scores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11064240" cy="329184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070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Pipeline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2070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2070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Sensitivity (Recall)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207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F1-Score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2070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Weight in Ensemble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536192"/>
            <a:ext cx="110642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572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ResNet50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5727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Secondary Feature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572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89.3%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82.0%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5727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0.8015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5727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97706"/>
                </a:solidFill>
                <a:latin typeface="Calibri"/>
              </a:defRPr>
            </a:pPr>
            <a:r>
              <a:t>40% (Weight)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883664"/>
            <a:ext cx="11064240" cy="320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1920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EfficientNetV2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1920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Primary Deep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920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202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85.7%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1920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0.7605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920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97706"/>
                </a:solidFill>
                <a:latin typeface="Calibri"/>
              </a:defRPr>
            </a:pPr>
            <a:r>
              <a:t>60% (Weight)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231136"/>
            <a:ext cx="110642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2677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Ensemble (UltraXAI)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2677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B46"/>
                </a:solidFill>
                <a:latin typeface="Calibri"/>
              </a:defRPr>
            </a:pPr>
            <a:r>
              <a:t>Soft Voting Combination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2677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&gt; 96.0%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2677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&gt; 92.0%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2677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&gt; 0.8400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2677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100% Combined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697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B46"/>
                </a:solidFill>
                <a:latin typeface="Calibri"/>
              </a:defRPr>
            </a:pPr>
            <a:r>
              <a:t>2. Clinical Test Results Across All 3 Classes (Malignant, Benign, Normal)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944368"/>
            <a:ext cx="11064240" cy="329184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29809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Ultrasound 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29809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Clinical Condition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29809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ResNet50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9809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EfficientNetV2 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29809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Final AI Diagnosis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9809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Trust Score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3310128"/>
            <a:ext cx="11064240" cy="38404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364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Calibri"/>
              </a:defRPr>
            </a:pPr>
            <a:r>
              <a:t>🔴 MALIGNANT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3364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Cancerous Tumor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3364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98.7% Malignant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364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100.0% Malignant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3364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Calibri"/>
              </a:defRPr>
            </a:pPr>
            <a:r>
              <a:t>99.5% Malignant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24160" y="3364992"/>
            <a:ext cx="91440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0" y="3374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3730752"/>
            <a:ext cx="1106424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7856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🟢 BENIGN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3785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Non-Cancerous Tumor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3785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100.0% Benign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3785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100.0% Benign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37856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Calibri"/>
              </a:defRPr>
            </a:pPr>
            <a:r>
              <a:t>100.0% Benign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424160" y="3785616"/>
            <a:ext cx="91440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24160" y="37947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4151376"/>
            <a:ext cx="1106424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4206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⚪ NORMAL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Healthy Breast Tissue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0" y="4206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96.4% Normal/Benign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4206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99.9% Normal/Benign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2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98.9% Normal/Benign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24160" y="4206240"/>
            <a:ext cx="91440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24160" y="42153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470916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48640" y="4709160"/>
            <a:ext cx="356616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873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✓ 100% Unanimous Agreement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18464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Both ResNet50 and EfficientNetV2 agreed unanimously on all test cases without any conflict, ensuring high reliability for clinicians.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97679" y="470916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297679" y="4709160"/>
            <a:ext cx="356616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80559" y="4873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✓ Zero False Cancer Alarms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0559" y="518464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Normal breast tissue was correctly classified as healthy with 98.9% confidence, preventing healthy patients from undergoing unnecessary biopsies.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46719" y="470916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046719" y="4709160"/>
            <a:ext cx="356616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599" y="4873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Calibri"/>
              </a:defRPr>
            </a:pPr>
            <a:r>
              <a:t>✓ Robust Clinical Trust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599" y="518464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Trust Score is HIGH across all classes. The combined ensemble (&gt;96% Accuracy, &gt;92% Sensitivity) significantly outperforms any single model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5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Detection &amp; Segmentation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Segmentation: Attention U-Net vs Standard U-Net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029200" cy="36576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38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Standard U-Net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38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Attention U-Net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38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500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Dice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3500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0.6652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500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0.7386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500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+7.34%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02920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61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IoU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61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0.5800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761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0.6521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7614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+7.21%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154680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72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Attention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172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172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4x AG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172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Noise filtered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566160"/>
            <a:ext cx="502920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844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Training Loss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5844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DiceBCE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5844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DiceBCE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5844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Same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77639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99592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Epochs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99592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99592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9959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Same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371600"/>
            <a:ext cx="5486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Detection: YOLOv8-m vs YOLOv8-n (Baseline)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920240"/>
            <a:ext cx="5029200" cy="36576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938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1938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YOLOv8-n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YOLOv8-m (Ours)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1938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2331720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3500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mAP@50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23500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0.7420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2350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0.8840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3500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+14.2%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2743200"/>
            <a:ext cx="502920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2761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2761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0.7800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27614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0.8700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27614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+9.0%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3154680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3172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172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0.7100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31729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0.8200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3172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+11.0%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3566160"/>
            <a:ext cx="502920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35844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Backbone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35844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C2f (nano)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3584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C2f (medium)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35844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More capacity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3977639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399592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Epochs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0" y="399592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399592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39959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Same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846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891B2"/>
                </a:solidFill>
                <a:latin typeface="Calibri"/>
              </a:defRPr>
            </a:pPr>
            <a:r>
              <a:t>+7.34%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5532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Dice Score Gain</a:t>
            </a:r>
            <a:br/>
            <a:r>
              <a:t>(Segmentation)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91840" y="4846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0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Calibri"/>
              </a:defRPr>
            </a:pPr>
            <a:r>
              <a:t>+14.2%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0" y="5532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mAP@50 Gain</a:t>
            </a:r>
            <a:br/>
            <a:r>
              <a:t>(Detection)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26480" y="4846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9360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96.5%+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9360" y="5532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Ensemble Accuracy</a:t>
            </a:r>
            <a:br/>
            <a:r>
              <a:t>(Classification)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61120" y="4846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0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C3AED"/>
                </a:solidFill>
                <a:latin typeface="Calibri"/>
              </a:defRPr>
            </a:pPr>
            <a:r>
              <a:t>&lt; 350ms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5532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Total Pipeline</a:t>
            </a:r>
            <a:br/>
            <a:r>
              <a:t>(All 4 Phases)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Ultrasound image noise &amp; shadows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Added Attention Gates to U-Net that filter out background noise and shadow artifacts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1481328"/>
            <a:ext cx="13716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Class imbalance in training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774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Applied data augmentation (flips, rotations, crops) and class-balanced weighted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487168"/>
            <a:ext cx="13716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11247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83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ResNet50 always predicting Benign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383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Replaced BatchNorm with LayerNorm in classifier heads, retrained on cropped ROIs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3493008"/>
            <a:ext cx="13716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97680"/>
            <a:ext cx="11247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4805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89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Connecting 4 models into one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389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Built a unified FastAPI backend where all models run in sequence under 350ms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4498848"/>
            <a:ext cx="13716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03520"/>
            <a:ext cx="11247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54864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94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Normal scans wrongly called cancer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394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Added 133 healthy scans with 8 multi-region crops each to training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5504688"/>
            <a:ext cx="137160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5532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Done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Updated Gantt Chart /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01752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371600"/>
            <a:ext cx="86360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39903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1200" y="1371600"/>
            <a:ext cx="86360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200" y="139903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4800" y="1371600"/>
            <a:ext cx="86360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84800" y="139903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400" y="1371600"/>
            <a:ext cx="86360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8400" y="139903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2000" y="1371600"/>
            <a:ext cx="86360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0" y="139903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5600" y="1371600"/>
            <a:ext cx="86360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5600" y="139903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9200" y="1371600"/>
            <a:ext cx="86360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9200" y="139903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02800" y="1371600"/>
            <a:ext cx="86360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2800" y="139903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66400" y="1371600"/>
            <a:ext cx="863600" cy="4572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66400" y="1399032"/>
            <a:ext cx="86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920240"/>
            <a:ext cx="30175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Dataset collection &amp; preprocessing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192024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1200" y="192024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84800" y="192024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48400" y="192024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12000" y="192024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75600" y="192024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39200" y="192024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02800" y="192024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566400" y="192024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0" y="2011680"/>
            <a:ext cx="17272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" y="2423160"/>
            <a:ext cx="301752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YOLOv8 detection training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0" y="242316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21200" y="242316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84800" y="242316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48400" y="242316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112000" y="242316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75600" y="242316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39200" y="242316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02800" y="242316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566400" y="242316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21200" y="2514600"/>
            <a:ext cx="17272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7200" y="2926080"/>
            <a:ext cx="30175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Attention U-Net segmentation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292608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21200" y="292608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384800" y="292608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248400" y="292608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112000" y="292608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975600" y="292608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839200" y="292608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702800" y="292608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566400" y="292608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384800" y="3017520"/>
            <a:ext cx="1727200" cy="27432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57200" y="3429000"/>
            <a:ext cx="301752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EfficientNetV2 + ResNet50 training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0" y="342900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21200" y="342900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384800" y="342900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48400" y="342900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112000" y="342900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975600" y="342900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839200" y="342900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702800" y="342900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566400" y="342900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248400" y="3520440"/>
            <a:ext cx="17272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" y="3931920"/>
            <a:ext cx="30175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Pipeline integration (FastAPI + React)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57600" y="393192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521200" y="393192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384800" y="393192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248400" y="393192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112000" y="393192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975600" y="393192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839200" y="393192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702800" y="393192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566400" y="393192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112000" y="4023360"/>
            <a:ext cx="172720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57200" y="4434840"/>
            <a:ext cx="301752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Normal scan training + bug fixes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57600" y="443484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521200" y="443484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384800" y="443484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248400" y="443484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112000" y="443484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975600" y="443484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839200" y="443484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9702800" y="443484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0566400" y="443484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975600" y="4526280"/>
            <a:ext cx="17272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57200" y="4937760"/>
            <a:ext cx="30175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Full-scale testing &amp; validation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657600" y="493776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521200" y="493776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384800" y="493776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48400" y="493776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112000" y="493776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975600" y="493776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839200" y="493776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702800" y="493776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566400" y="493776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839200" y="5029200"/>
            <a:ext cx="172720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57200" y="5440680"/>
            <a:ext cx="301752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00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Thesis write-up (Chapters 3-5)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57600" y="544068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4521200" y="544068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384800" y="544068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248400" y="544068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112000" y="544068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975600" y="544068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839200" y="544068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702800" y="544068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10566400" y="5440680"/>
            <a:ext cx="86360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975600" y="5532120"/>
            <a:ext cx="3454400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457200" y="5943600"/>
            <a:ext cx="30175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008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Calibri"/>
              </a:defRPr>
            </a:pPr>
            <a:r>
              <a:t>Final deployment &amp; defense prep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657600" y="594360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4521200" y="594360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5384800" y="594360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6248400" y="594360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112000" y="594360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7975600" y="594360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8839200" y="594360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9702800" y="594360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10566400" y="5943600"/>
            <a:ext cx="863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10566400" y="6035040"/>
            <a:ext cx="863600" cy="27432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3657600" y="6400800"/>
            <a:ext cx="27432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023360" y="6419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943600" y="6400800"/>
            <a:ext cx="27432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309360" y="6419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229600" y="6400800"/>
            <a:ext cx="274320" cy="27432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595360" y="6419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Not Started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7.5  |  SYSTEM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UltraXAI Live System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Screen recording of working prototype: Ultrasound upload -&gt; YOLO detection -&gt; Attention U-Net -&gt; Dual-model ensemble -&gt; Grad-CAM++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24128"/>
            <a:ext cx="9985248" cy="4544568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20260915-1907-48.097685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2144" y="1078992"/>
            <a:ext cx="987552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715000"/>
            <a:ext cx="2697480" cy="82296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8815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⚡ Real-Time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807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Calibri"/>
              </a:defRPr>
            </a:pPr>
            <a:r>
              <a:t>&lt; 350ms total execution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5715000"/>
            <a:ext cx="2697480" cy="82296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578815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🔄 Live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60807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Calibri"/>
              </a:defRPr>
            </a:pPr>
            <a:r>
              <a:t>Real-time WebSocket progress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5715000"/>
            <a:ext cx="2697480" cy="82296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39" y="578815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🎯 5 Diagnostic Panels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39" y="60807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Calibri"/>
              </a:defRPr>
            </a:pPr>
            <a:r>
              <a:t>Original, BBox, Mask, Heatmap,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5715000"/>
            <a:ext cx="2697480" cy="82296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578815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Calibri"/>
              </a:defRPr>
            </a:pPr>
            <a:r>
              <a:t>🔬 Dual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60807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Calibri"/>
              </a:defRPr>
            </a:pPr>
            <a:r>
              <a:t>EfficientNetV2 (60%) + ResNet50 (40%)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Remaining Work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Automated Clinical PDF Report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One-click downloadable diagnostic PDF report with scans, segmentation masks, Grad-CAM++ heatmaps, and doctor sign-off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9496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0" y="16459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External Dataset Cross-Validation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Evaluate model generalization across external hospital archives (UDIAT &amp; OASBUD) to confirm real-world clinical robustness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539496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46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Finalize Thesis Chapters 3 to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576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Complete comprehensive methodology, experimental benchmarking, ablation studies, and clinical analysis write-up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017520"/>
            <a:ext cx="539496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0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46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Final Deployment &amp; Defense 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6576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Docker containerization for hospital edge servers and final presentation slide deck with live demonstration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11247120" cy="9601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56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Current Status: The full React dashboard, FastAPI backend, real-time WebSocket progress, and 4-phase AI pipeline are fully built and working end-to-end with &gt;96.0% accuracy across Malignant, Benign, and Normal scans. The remaining phase focuses on clinical report export, external benchmarking, and thesis write-up.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